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58368"/>
            <a:ext cx="109728" cy="544068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" y="676656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0C4BE"/>
                </a:solidFill>
                <a:latin typeface="Avenir Next"/>
              </a:rPr>
              <a:t>REDSEC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6F9F8"/>
                </a:solidFill>
                <a:latin typeface="Avenir Next"/>
              </a:rPr>
              <a:t>RedSec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523744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8CE0DC"/>
                </a:solidFill>
                <a:latin typeface="Avenir Next"/>
              </a:rPr>
              <a:t>Learn to break AI systems so you can design them safely.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40680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4B7BE"/>
                </a:solidFill>
                <a:latin typeface="Avenir Next"/>
              </a:rPr>
              <a:t>A guided learning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5788152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F6F9F8"/>
                </a:solidFill>
                <a:latin typeface="Avenir Next"/>
              </a:rPr>
              <a:t>2026 EDITION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207008"/>
            <a:ext cx="2560320" cy="1097280"/>
          </a:xfrm>
          <a:prstGeom prst="roundRect">
            <a:avLst/>
          </a:prstGeom>
          <a:solidFill>
            <a:srgbClr val="0D273A"/>
          </a:solidFill>
          <a:ln>
            <a:solidFill>
              <a:srgbClr val="274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316736"/>
            <a:ext cx="100584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4BE"/>
                </a:solidFill>
                <a:latin typeface="Avenir Next"/>
              </a:rPr>
              <a:t>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46304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4B7BE"/>
                </a:solidFill>
                <a:latin typeface="Avenir Next"/>
              </a:rPr>
              <a:t>CONCEPTS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624328"/>
            <a:ext cx="2560320" cy="1097280"/>
          </a:xfrm>
          <a:prstGeom prst="roundRect">
            <a:avLst/>
          </a:prstGeom>
          <a:solidFill>
            <a:srgbClr val="0D273A"/>
          </a:solidFill>
          <a:ln>
            <a:solidFill>
              <a:srgbClr val="274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734056"/>
            <a:ext cx="100584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4BE"/>
                </a:solidFill>
                <a:latin typeface="Avenir Next"/>
              </a:rPr>
              <a:t>162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288036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4B7BE"/>
                </a:solidFill>
                <a:latin typeface="Avenir Next"/>
              </a:rPr>
              <a:t>VARIANTS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4041648"/>
            <a:ext cx="2560320" cy="1097280"/>
          </a:xfrm>
          <a:prstGeom prst="roundRect">
            <a:avLst/>
          </a:prstGeom>
          <a:solidFill>
            <a:srgbClr val="0D273A"/>
          </a:solidFill>
          <a:ln>
            <a:solidFill>
              <a:srgbClr val="274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151376"/>
            <a:ext cx="100584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4BE"/>
                </a:solidFill>
                <a:latin typeface="Avenir Next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429768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4B7BE"/>
                </a:solidFill>
                <a:latin typeface="Avenir Next"/>
              </a:rPr>
              <a:t>RANGES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978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A4B7BE"/>
                </a:solidFill>
                <a:latin typeface="Avenir Next"/>
              </a:rPr>
              <a:t>34 slides • one takeaway per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650837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The range is a portfolio, not a single 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Five available ranges provide complementary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RedSec built-in: 43 verifier-backed challenges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DVAA: 22 agent and A2A challenges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MCPGoat: 26 concepts across 78 difficulty variants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DVMCP + Appsecco: 19 focused MCP exercises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976256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Every exercise follows one learning loop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Observe → hypothesise → exploit → verify → defend → reset.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Map the data flow and the authority boundary first.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Change one assumption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Capture evidence through a flag, oracle, or artifact.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Explain the root cause before moving on.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301675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The model is only one component of the attack surface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Most impact comes from the host, tools, data, and infrastructure around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User and retrieved content compete for influence.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Hosts translate text into tool calls and side effects.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MCP and A2A add remote principals and protocol state.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Registries, model artifacts, and cloud services add supply-chain risk.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62709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A solution is credible only when it changes observable state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RedSec proves built-in exploits fail before and pass after execution.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Flag: recover a challenge-specific value.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Oracle: cause a specific side effect at the sink.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Artifact: submit structured analysis that meets scoring rules.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`redsec selftest` runs all 43 reference exploits.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95251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Start by proving the environment and your feedback loop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Module 01 teaches the operating rhythm before the attack depth increases.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Inspect `range status` and open the lesson.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Coax the orientation flag from the guide.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Submit the result and observe deterministic scoring.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Reset without rebuilding the whole environment.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2277931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Reconnaissance means finding hidden behavior, not guessing prompts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Fingerprint implementation details before choosing an exploit.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Compare response headers, model banners, and error shapes.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Enumerate undocumented routes and version endpoints.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Send malformed input and inspect excessive diagnostics.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Convert findings into a concrete attack hypothesis.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E5369"/>
                </a:solidFill>
                <a:latin typeface="Avenir Next"/>
              </a:rPr>
              <a:t>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2603350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Prompt injection becomes dangerous when text inherits authority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EE5369"/>
                </a:solidFill>
                <a:latin typeface="Avenir Next"/>
              </a:rPr>
              <a:t>The vulnerability lives in the application’s trust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Direct injection competes with the system instruction.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Indirect injection arrives through notes or retrieved content.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Excessive agency turns model compliance into real actions.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Poisoned memory makes the behavior persist across turns.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E5369"/>
                </a:solidFill>
                <a:latin typeface="Avenir Next"/>
              </a:rPr>
              <a:t>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2928769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A2A messages require identity, integrity, and context ownership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EE5369"/>
                </a:solidFill>
                <a:latin typeface="Avenir Next"/>
              </a:rPr>
              <a:t>Agent Cards describe capability; they do not prove trust.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Reject unsigned or unauthenticated JSON-RPC messages.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Bind Tasks and `contextId` values to authenticated principals.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Authorize the delegated action, not merely the sending agent.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Validate assembled context after multi-message reassembly.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E5369"/>
                </a:solidFill>
                <a:latin typeface="Avenir Next"/>
              </a:rPr>
              <a:t>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3254188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RAG turns every indexed document into potential instruction input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EE5369"/>
                </a:solidFill>
                <a:latin typeface="Avenir Next"/>
              </a:rPr>
              <a:t>Retrieval relevance is not a security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Poison knowledge before the victim query runs.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Manipulate ranking to outrank trusted material.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Spoof authoritative-looking citations.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Separate retrieved data from executable instructions.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EE5369"/>
                </a:solidFill>
                <a:latin typeface="Avenir Next"/>
              </a:rPr>
              <a:t>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3579607" cy="32004"/>
          </a:xfrm>
          <a:prstGeom prst="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Embeddings leak relationships even when raw text is hidden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EE53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EE5369"/>
                </a:solidFill>
                <a:latin typeface="Avenir Next"/>
              </a:rPr>
              <a:t>Similarity interfaces can expose membership and reconstruct content.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Use a reference corpus to test inversion.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Compare scores to infer record membership.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Search for collisions that bypass text-only checks.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Minimise returned precision and sensitive corpus exposure.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EE5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3905025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MCP expands the trust boundary in both directions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Tools, resources, prompts, sampling, and transport are separate attack surfaces.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Server metadata influences the host before a tool executes.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Tool results and resources can carry indirect instructions.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Servers can ask clients to sample or elicit information.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Transport and authorization mistakes bypass model safeguards entirely.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4230444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Tool metadata is executable influence unless the host treats it as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Descriptions and schemas can poison planning before user approval.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Inspect the full `tools/list` response.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Compare names, parameter descriptions, and invisible characters.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Pin definitions and diff them after installation.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Present the exact model-visible text to the approver.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4555863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Resources and prompts can cross privilege boundaries silently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A benign read can become an instruction-bearing payload.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Traverse resource paths and inspect URI authorization.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Inject prompt arguments into privileged template sections.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Keep untrusted arguments in data-only message roles.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Enforce access at the server, independent of model intent.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4881282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Sampling and elicitation reverse the expected control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An MCP server can drive the client’s model and ask the user for secrets.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Log every server-initiated sampling request.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Show system prompts and messages before approval.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Never auto-answer credential or identity questions.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Scope and rate-limit these capabilities per server.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5206701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Roots, logs, and completion are disclosure surfaces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Auxiliary MCP features need the same authorization as tools.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Verify that resource reads remain inside declared roots.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Treat debug logging as sensitive output.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Test completion endpoints for secret enumeration.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Disable capabilities the client does not need.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5532120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Approval-time safety does not prevent a runtime rug pull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A tool can change after the user has learned to trust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Capture definitions and behavior at first approval.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Repeat calls and compare outputs over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Re-review on metadata or binary changes.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Sandbox execution even when behavior initially looks benign.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5857538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Protocol routing must agree on one authoritative method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Header/body disagreement can turn an allowed request into a privileged 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Send conflicting routing metadata and JSON-RPC bodies.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Observe which layer makes the authorization decision.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Canonicalise once, then authorize the canonical request.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Reject duplicate or contradictory routing signals.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37D3B0"/>
                </a:solidFill>
                <a:latin typeface="Avenir Next"/>
              </a:rP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6182957" cy="32004"/>
          </a:xfrm>
          <a:prstGeom prst="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Invisible Unicode defeats reviews that scan only rendered 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37D3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7D3B0"/>
                </a:solidFill>
                <a:latin typeface="Avenir Next"/>
              </a:rPr>
              <a:t>Security controls must inspect the bytes the model will consume.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Look for zero-width, bidi, and Unicode tag characters.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Normalise before display, scanning, and model ingestion.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Provide a raw or hexdump approval view.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Sign and pin tool definitions after canonicalisation.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37D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F19B4E"/>
                </a:solidFill>
                <a:latin typeface="Avenir N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6508376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AI supply chains contain executable artifacts, data, adapters, and packages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19B4E"/>
                </a:solidFill>
                <a:latin typeface="Avenir Next"/>
              </a:rPr>
              <a:t>“Model file” does not mean “passive data.”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Unsafe deserialisation can execute during model load.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Poisoned datasets and adapters introduce hidden triggers.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Dependency confusion replaces trusted packages.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Verify origin, digest, format, and isolated load behavior.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F19B4E"/>
                </a:solidFill>
                <a:latin typeface="Avenir Next"/>
              </a:rPr>
              <a:t>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6833795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Cloud metadata and open admin APIs turn AI flaws into infrastructure compromise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19B4E"/>
                </a:solidFill>
                <a:latin typeface="Avenir Next"/>
              </a:rPr>
              <a:t>Model-facing services often carry ambient cloud authority.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Use SSRF to test access to metadata endpoints.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Enumerate inference administration without credentials.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Inspect registries and model cards for embedded secrets.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Apply egress controls and workload identity boundaries.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F19B4E"/>
                </a:solidFill>
                <a:latin typeface="Avenir Next"/>
              </a:rPr>
              <a:t>22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7159214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Threat models must describe relationships, not keyword lists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19B4E"/>
                </a:solidFill>
                <a:latin typeface="Avenir Next"/>
              </a:rPr>
              <a:t>A useful model names assets, trust crossings, and complete attack chains.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Inventory prompts, secrets, tools, data, models, and agents.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Map who can introduce content and who can cause effects.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Rank multi-step paths by likelihood and impact.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Tie every mitigation to a specific boundary.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F19B4E"/>
                </a:solidFill>
                <a:latin typeface="Avenir Next"/>
              </a:rPr>
              <a:t>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7484632" cy="32004"/>
          </a:xfrm>
          <a:prstGeom prst="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The capstone proves that small weaknesses compose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F1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19B4E"/>
                </a:solidFill>
                <a:latin typeface="Avenir Next"/>
              </a:rPr>
              <a:t>Initial access, ambient authority, and exfiltration form one engagement.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Seed an indirect instruction.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Pivot through an over-privileged tool to a vault record.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Exfiltrate the crown jewel through an allowed action.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Report the chain and the controls that would break it.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F1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779E0"/>
                </a:solidFill>
                <a:latin typeface="Avenir Next"/>
              </a:rPr>
              <a:t>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7810051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DVAA teaches agent abuse from beginner prompts to expert chains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9779E0"/>
                </a:solidFill>
                <a:latin typeface="Avenir Next"/>
              </a:rPr>
              <a:t>Its 22 challenges pair objectives, hints, solutions, and defenses.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Begin with prompt and credential disclosure.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Progress through context, memory, MCP, and tool registry attacks.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Combine primitives in SecureBot and A2A expert scenarios.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Use its embedded solution criteria as the upstream authority.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779E0"/>
                </a:solidFill>
                <a:latin typeface="Avenir Next"/>
              </a:rPr>
              <a:t>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8135470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Expert agent attacks exploit composition and persistence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9779E0"/>
                </a:solidFill>
                <a:latin typeface="Avenir Next"/>
              </a:rPr>
              <a:t>The hardest DVAA tasks require several individually familiar mistakes.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Establish a foothold through prompt or tool influence.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Persist through memory or context manipulation.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Cross into another agent or service.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Preserve an evidence trail for every link in the chain.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779E0"/>
                </a:solidFill>
                <a:latin typeface="Avenir Next"/>
              </a:rPr>
              <a:t>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8460889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MCPGoat makes difficulty progression explicit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9779E0"/>
                </a:solidFill>
                <a:latin typeface="Avenir Next"/>
              </a:rPr>
              <a:t>Each concept has Easy, Moderate, Difficult, and Secure behavior.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Easy reveals the primitive directly.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Moderate adds weak filtering or a second precondition.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Difficult requires chaining, blind inference, or encoding.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Secure demonstrates the intended defense and should block the attack.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779E0"/>
                </a:solidFill>
                <a:latin typeface="Avenir Next"/>
              </a:rPr>
              <a:t>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8786308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MCP security includes authorization, transport, and resource exhaustion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9779E0"/>
                </a:solidFill>
                <a:latin typeface="Avenir Next"/>
              </a:rPr>
              <a:t>Prompt-focused testing alone misses half the protocol risk.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Test confused deputies, IDOR, OAuth audience, and session prediction.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Probe Origin, CORS, DNS rebinding, and routing assumptions.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Exercise SQL, NoSQL, SSTI, XXE, and deserialisation sinks.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Bound cost, regex work, payload size, and concurrency.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779E0"/>
                </a:solidFill>
                <a:latin typeface="Avenir Next"/>
              </a:rPr>
              <a:t>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9111727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DVMCP is a compact progression from injection to a multi-vector 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9779E0"/>
                </a:solidFill>
                <a:latin typeface="Avenir Next"/>
              </a:rPr>
              <a:t>Ten servers isolate core MCP failure modes before combining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Prompt injection and tool poisoning establish the basics.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Permission scope, token theft, and shadowing add authority.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Command execution and remote control show host impact.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Challenge 10 composes metadata, file access, auth, and execution.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779E0"/>
                </a:solidFill>
                <a:latin typeface="Avenir Next"/>
              </a:rPr>
              <a:t>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9437145" cy="32004"/>
          </a:xfrm>
          <a:prstGeom prst="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Appsecco emphasises realistic MCP integration mistakes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977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9779E0"/>
                </a:solidFill>
                <a:latin typeface="Avenir Next"/>
              </a:rPr>
              <a:t>Its nine labs are demonstrations rather than a unified flag suite.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Traverse a “workspace” and exercise unsafe code actions.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Compare stdio, SSE, and Streamable HTTP injection paths.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Inspect malicious tools, typosquats, and old dependencies.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Trace secrets and untrusted public content through tool results.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97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9762564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Defense works as layers around authority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No single prompt rule can secure an agentic 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Content: canonicalise, label, and separate instructions from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Identity: authenticate callers, servers, agents, and objects.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Execution: validate arguments, avoid shells, sandbox, and deny egress.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Lifecycle: pin, diff, monitor, rate-limit, and retain evidence.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31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0087983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6F9F8"/>
                </a:solidFill>
                <a:latin typeface="Avenir Next"/>
              </a:rPr>
              <a:t>Codespaces is the shortest path from GitHub login to a private range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The harness should run inside the Codespace or connect over authenticated SSH.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Open the repository Codespace and wait for readiness.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Use `range`, `redsec`, and `assess` from its terminal.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Keep forwarded challenge ports private.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Enable external ranges only when you need them.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32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0413402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Fly is an optional private attacking 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Use it for a dedicated ephemeral session, then destroy the app.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Deploy a focused module or selected ranges.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Drive it through Fly SSH, `exec.sh`, or `model.sh`.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Proxy a target only to local loopback when needed.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Billing and trial runtime limits apply.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33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0738821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A four-week path builds skill through deliberate repetition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Depth comes from explaining the boundary after every exploit.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Week 1: modules 01–03 and DVAA beginner/intermediate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Week 2: A2A, RAG, embeddings, and DVAA expert chains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Week 3: module 07, MCPGoat, DVMCP, and Appsecco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Week 4: supply chain, cloud infrastructure, threat model, capstone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582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726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870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01400" y="320040"/>
            <a:ext cx="10972" cy="5989320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234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21488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30632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3977639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48920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5806440"/>
            <a:ext cx="3749039" cy="10972"/>
          </a:xfrm>
          <a:prstGeom prst="rect">
            <a:avLst/>
          </a:prstGeom>
          <a:solidFill>
            <a:srgbClr val="1B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>
                <a:solidFill>
                  <a:srgbClr val="A4B7BE"/>
                </a:solidFill>
                <a:latin typeface="Avenir Next"/>
              </a:rPr>
              <a:t>REDSEC RANGE  //  LEARNING EDITION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2011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00C4BE"/>
                </a:solidFill>
                <a:latin typeface="Avenir Next"/>
              </a:rPr>
              <a:t>34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22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6556248"/>
            <a:ext cx="11064240" cy="32004"/>
          </a:xfrm>
          <a:prstGeom prst="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94944"/>
            <a:ext cx="1037844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8"/>
                </a:solidFill>
                <a:latin typeface="Avenir Next"/>
              </a:rPr>
              <a:t>Finish each challenge with a defensible explanation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64208"/>
            <a:ext cx="9966960" cy="804672"/>
          </a:xfrm>
          <a:prstGeom prst="roundRect">
            <a:avLst/>
          </a:prstGeom>
          <a:solidFill>
            <a:srgbClr val="0D273A"/>
          </a:solidFill>
          <a:ln>
            <a:solidFill>
              <a:srgbClr val="00C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1828800"/>
            <a:ext cx="9372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0C4BE"/>
                </a:solidFill>
                <a:latin typeface="Avenir Next"/>
              </a:rPr>
              <a:t>The payload is temporary; the mental model is the durable skill.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834639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830068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8920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What untrusted value crossed which boundary?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93591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89020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47872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Which principal supplied the authority?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352544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47972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06824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What observable evidence proved impact?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111495"/>
            <a:ext cx="310896" cy="310896"/>
          </a:xfrm>
          <a:prstGeom prst="roundRect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06923"/>
            <a:ext cx="31089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71827"/>
                </a:solidFill>
                <a:latin typeface="Avenir Nex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65775"/>
            <a:ext cx="8823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20" b="0">
                <a:solidFill>
                  <a:srgbClr val="F6F9F8"/>
                </a:solidFill>
                <a:latin typeface="Avenir Next"/>
              </a:rPr>
              <a:t>Which control would have broken the chain earliest?</a:t>
            </a:r>
          </a:p>
        </p:txBody>
      </p:sp>
      <p:sp>
        <p:nvSpPr>
          <p:cNvPr id="32" name="Oval 31"/>
          <p:cNvSpPr/>
          <p:nvPr/>
        </p:nvSpPr>
        <p:spPr>
          <a:xfrm>
            <a:off x="10469880" y="3090672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37392" y="3822191"/>
            <a:ext cx="384048" cy="384048"/>
          </a:xfrm>
          <a:prstGeom prst="ellipse">
            <a:avLst/>
          </a:prstGeom>
          <a:solidFill>
            <a:srgbClr val="00C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14432" y="4572000"/>
            <a:ext cx="384048" cy="384048"/>
          </a:xfrm>
          <a:prstGeom prst="ellipse">
            <a:avLst/>
          </a:prstGeom>
          <a:solidFill>
            <a:srgbClr val="2E4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10698480" y="3456432"/>
            <a:ext cx="77724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9080000">
            <a:off x="10533888" y="4315968"/>
            <a:ext cx="822960" cy="22860"/>
          </a:xfrm>
          <a:prstGeom prst="rect">
            <a:avLst/>
          </a:prstGeom>
          <a:solidFill>
            <a:srgbClr val="4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5166360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A4B7BE"/>
                </a:solidFill>
                <a:latin typeface="Avenir Next"/>
              </a:rPr>
              <a:t>TRUST / DATA / AUTHORITY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RedSec Range — Learning Deck</dc:title>
  <dc:subject>AI, A2A, MCP, supply-chain, and infrastructure security labs</dc:subject>
  <dc:creator>RedSec Range</dc:creator>
  <cp:keywords>AI security, MCP, A2A, red teaming, training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